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365760"/>
            <a:ext cx="2468880" cy="14630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685800"/>
            <a:ext cx="1645920" cy="146304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1005840"/>
            <a:ext cx="1097280" cy="146304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IMDb Movie Rating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Category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9D7E6"/>
                </a:solidFill>
                <a:latin typeface="Aptos"/>
              </a:defRPr>
            </a:pPr>
            <a:r>
              <a:t>Entertainment analytics • Machine learning • Marketing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MSc Big Data Analytics | 12-minute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9D7E6"/>
                </a:solidFill>
                <a:latin typeface="Aptos"/>
              </a:defRPr>
            </a:pPr>
            <a:r>
              <a:t>Project prototype: XGBoost classifier + Streamlit app; interactive dashboard planned separately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1. The problem and 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19202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920240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Can movie metadata help identify titles likely to fall into IMDb’s 7+ rating category?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9202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1920240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3852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A supervised XGBoost classifier exposed through a Streamlit web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19202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1920240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Potential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3852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A starting point for content research and audience-insight discussions—not a guarantee of success.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C3A"/>
                </a:solidFill>
                <a:latin typeface="Aptos"/>
              </a:defRPr>
            </a:pPr>
            <a:r>
              <a:t>•  Target: high-rated category = IMDb rating ≥ 7.0; below category = rating &lt; 7.0.</a:t>
            </a:r>
          </a:p>
          <a:p>
            <a:pPr>
              <a:spcAft>
                <a:spcPts val="800"/>
              </a:spcAft>
              <a:defRPr sz="1800">
                <a:solidFill>
                  <a:srgbClr val="242C3A"/>
                </a:solidFill>
                <a:latin typeface="Aptos"/>
              </a:defRPr>
            </a:pPr>
            <a:r>
              <a:t>•  Inputs: release year, runtime, adult-content flag, and genres.</a:t>
            </a:r>
          </a:p>
          <a:p>
            <a:pPr>
              <a:spcAft>
                <a:spcPts val="800"/>
              </a:spcAft>
              <a:defRPr sz="1800">
                <a:solidFill>
                  <a:srgbClr val="242C3A"/>
                </a:solidFill>
                <a:latin typeface="Aptos"/>
              </a:defRPr>
            </a:pPr>
            <a:r>
              <a:t>•  Movie name is a display label only; it is not a model feature.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2. Step-by-step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IMDb TSV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303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168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199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DuckDB joins + master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168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EDA + statistical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168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1383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Temporal split + 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168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6216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6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Accuracy, precision/recall, ROC-AUC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168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96728" y="1874519"/>
            <a:ext cx="1792224" cy="210312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33888" y="202996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9C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3888" y="242316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33888" y="2852928"/>
            <a:ext cx="15179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Joblib artifacts + Streamlit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434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Large source data was joined and queried efficiently rather than loaded entirely into memory.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A time-based holdout tests performance on newer titles, closer to a future-use scenario.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3. Tools and technologies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148840" cy="7498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74980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03A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178308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42C3A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03A"/>
                </a:solidFill>
                <a:latin typeface="Aptos"/>
              </a:defRPr>
            </a:pPr>
            <a:r>
              <a:t>IMDb TSVs, Python, DuckDB, 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1732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Join, filter, clean and query the large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04288"/>
            <a:ext cx="2148840" cy="7498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04288"/>
            <a:ext cx="73152" cy="74980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4144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03A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71216"/>
            <a:ext cx="178308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42C3A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063240" y="23500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03A"/>
                </a:solidFill>
                <a:latin typeface="Aptos"/>
              </a:defRPr>
            </a:pPr>
            <a:r>
              <a:t>Pandas, Matplotlib/Seaborn, SciPy/statsmodels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50008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Genre comparisons, distributions, ANOVA and correlation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36976"/>
            <a:ext cx="2148840" cy="7498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36976"/>
            <a:ext cx="73152" cy="749808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74136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03A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803904"/>
            <a:ext cx="178308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42C3A"/>
                </a:solidFill>
                <a:latin typeface="Apto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063240" y="32826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03A"/>
                </a:solidFill>
                <a:latin typeface="Aptos"/>
              </a:defRPr>
            </a:pPr>
            <a:r>
              <a:t>Scikit-learn, XGBoost, Joblib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82696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Encode genres, train/tune model, save artifacts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9664"/>
            <a:ext cx="2148840" cy="7498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69664"/>
            <a:ext cx="73152" cy="74980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306824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03A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736592"/>
            <a:ext cx="178308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42C3A"/>
                </a:solidFill>
                <a:latin typeface="Apto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063240" y="42153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03A"/>
                </a:solidFill>
                <a:latin typeface="Aptos"/>
              </a:defRPr>
            </a:pPr>
            <a:r>
              <a:t>Streamlit, Python, GitHub, Streamlit Community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15384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Interactive inputs, predictions, public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02352"/>
            <a:ext cx="2148840" cy="7498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102352"/>
            <a:ext cx="73152" cy="74980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239512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03A"/>
                </a:solidFill>
                <a:latin typeface="Aptos"/>
              </a:defRPr>
            </a:pPr>
            <a:r>
              <a:t>Next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669280"/>
            <a:ext cx="178308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42C3A"/>
                </a:solidFill>
                <a:latin typeface="Apto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3063240" y="51480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03A"/>
                </a:solidFill>
                <a:latin typeface="Aptos"/>
              </a:defRPr>
            </a:pPr>
            <a:r>
              <a:t>Claude Code + chosen visualization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148072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Build an interactive analytical dashboard; confirm tools and scope during 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4. What did the analysis show?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4203A"/>
                </a:solidFill>
                <a:latin typeface="Aptos"/>
              </a:defRPr>
            </a:pPr>
            <a:r>
              <a:t>73.62%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Held-out test accuracy for the final classifier.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1463040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554480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4203A"/>
                </a:solidFill>
                <a:latin typeface="Aptos"/>
              </a:defRPr>
            </a:pPr>
            <a:r>
              <a:t>0.41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Decision threshold selected during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73152" cy="1463040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54480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03A"/>
                </a:solidFill>
                <a:latin typeface="Aptos"/>
              </a:defRPr>
            </a:pPr>
            <a:r>
              <a:t>4 features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8424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Year, runtime, adult flag, genre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1732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417320"/>
            <a:ext cx="73152" cy="146304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554480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03A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98424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Predicts 7+ vs below 7; not an exact rating.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832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Genre-level ratings differed statistically in the analyzed sample; statistical significance does not imply causation.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Rating and vote-count associations were weak, so vote volume alone is not a strong rating predictor in this analysis.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The probability-like output is a model score and should not be presented as a calibrated real-world probability.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5. Interpretation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~45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What it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Classify a supplied feature profile into the predicted rating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What it cannot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Retrieve actual IMDb ratings, infer the movie from its name, or forecast box office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347472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73152" cy="18288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5448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842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Use as a prototype for analysis—not as a definitive greenlight or marketing-budget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IMDb ratings can change over time; predictions depend on the training data and feature choices.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For stronger commercial claims, add box-office, streaming, campaign-spend, and audience data.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Evaluate fairness, data coverage, drift and model calibration before real-world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6. Marketing frameworks relevant to film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 15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73152" cy="129844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STP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Segmentation • Targeting • Positioning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Use genre/rating insights to form hypotheses about audience segments.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53312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53312"/>
            <a:ext cx="73152" cy="129844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490472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AIDA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Attention • Interest • Desire • Action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Map a campaign from trailer awareness to ticket purchase or streaming.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1298448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6324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93008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Reach • Act • Convert • Engage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Plan digital campaign activity across the viewer journey.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73152" cy="129844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06324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4Ps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493008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Product • Price • Place • Promotion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Structure decisions around film offer, pricing, distribution and promotion.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98848"/>
            <a:ext cx="73152" cy="1298448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636008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MMM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65776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Marketing Mix Modeling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Estimate channel contribution using spend and outcome time series; needs additional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98848"/>
            <a:ext cx="5303520" cy="129844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498848"/>
            <a:ext cx="73152" cy="129844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636008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Attribution / incrementality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065776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Touchpoint credit / causal lift</a:t>
            </a:r>
          </a:p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Use campaign tracking or experiments to test whether promotion changed outcomes.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7. Companies and industry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89888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73152" cy="120700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27048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Ormax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India: film research, audience insights and box-office forecasting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89888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89888"/>
            <a:ext cx="73152" cy="120700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27048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Screen Data &amp;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56816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India: film predictive intelligence and campaign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71216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71216"/>
            <a:ext cx="73152" cy="120700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08376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Nielsen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38144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Audience measurement and media effectiveness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71216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871216"/>
            <a:ext cx="73152" cy="120700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008376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Luminate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438144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Entertainment data and audience/industry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52544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52544"/>
            <a:ext cx="73152" cy="1207008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489704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PlumResearch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19472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Streaming audience measurement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52544"/>
            <a:ext cx="5303520" cy="1207008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352544"/>
            <a:ext cx="73152" cy="1207008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489704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Amazon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919472"/>
            <a:ext cx="49377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2C3A"/>
                </a:solidFill>
                <a:latin typeface="Aptos"/>
              </a:defRPr>
            </a:pPr>
            <a:r>
              <a:t>Entertainment advertising, targeting and campaign measurement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B697D"/>
                </a:solidFill>
                <a:latin typeface="Aptos"/>
              </a:defRPr>
            </a:pPr>
            <a:r>
              <a:t>Also explore analytics, personalization and audience-insight teams at Netflix, Disney, Warner Bros. Discovery and Sony Pictures.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8. Skills and knowledge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52044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Technical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Python • SQL • statistics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Data cleaning • ML evaluation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Visualization • Git/version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Domain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3852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Film/streaming business models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Audience research • genre trends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Marketing funnel and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52044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73152" cy="1828800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508760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Professional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3852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Storytelling with data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Stakeholder communication</a:t>
            </a:r>
          </a:p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Critical thinking • 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Learn to translate business questions into measurable outcomes and avoid causal claims from correlations.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Practice presenting model performance with class-specific precision/recall, baseline comparisons and limitations.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Build a portfolio with a reproducible repository, a deployed app, a clear README and a concise case study.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9. Preparing for a career in this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44752"/>
            <a:ext cx="393192" cy="393192"/>
          </a:xfrm>
          <a:prstGeom prst="ellipse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1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Polish GitHub README; document the data pipeline, model metrics, limitations and live Streamlit demo.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86584"/>
            <a:ext cx="393192" cy="393192"/>
          </a:xfrm>
          <a:prstGeom prst="ellipse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1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13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1343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Build the planned interactive dashboard; add genre filters, trend charts and model-performance views.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328416"/>
            <a:ext cx="393192" cy="393192"/>
          </a:xfrm>
          <a:prstGeom prst="ellipse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21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552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Create a second case study with a clear business question and measurable outcome.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70248"/>
            <a:ext cx="393192" cy="393192"/>
          </a:xfrm>
          <a:prstGeom prst="ellipse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06824"/>
            <a:ext cx="21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97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Job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19709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Look for roles such as Data Analyst, Marketing Analyst, Audience Insights Analyst, Entertainment Research Analyst or Junior Data Scientist.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212080"/>
            <a:ext cx="393192" cy="393192"/>
          </a:xfrm>
          <a:prstGeom prst="ellipse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48656"/>
            <a:ext cx="21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38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03A"/>
                </a:solidFill>
                <a:latin typeface="Aptos"/>
              </a:defRPr>
            </a:pPr>
            <a:r>
              <a:t>Interview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1389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2C3A"/>
                </a:solidFill>
                <a:latin typeface="Aptos"/>
              </a:defRPr>
            </a:pPr>
            <a:r>
              <a:t>Explain SQL/Python, experiment design, classification metrics, data leakage, bias and business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10. Interactive dashboard and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822960" cy="54864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8778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~1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1C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Predictor (deployed)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User enters a movie name and metadata; the app returns a predicted category and model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1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54480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Interactive dashboard (planned)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Built with Claude Code assistance; planned views may include genre trends, rating distributions, year trends and model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3F7FC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54480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03A"/>
                </a:solidFill>
                <a:latin typeface="Aptos"/>
              </a:defRPr>
            </a:pPr>
            <a:r>
              <a:t>Demo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1. Open live app</a:t>
            </a:r>
          </a:p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2. Enter sample features</a:t>
            </a:r>
          </a:p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3. Run prediction</a:t>
            </a:r>
          </a:p>
          <a:p>
            <a:pPr>
              <a:spcAft>
                <a:spcPts val="500"/>
              </a:spcAft>
              <a:defRPr sz="1300" b="0">
                <a:solidFill>
                  <a:srgbClr val="242C3A"/>
                </a:solidFill>
                <a:latin typeface="Aptos"/>
              </a:defRPr>
            </a:pPr>
            <a:r>
              <a:t>4. Show dashboard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Be explicit: the predictor is deployed; the interactive dashboard is planned/in development until it is finished.</a:t>
            </a:r>
          </a:p>
          <a:p>
            <a:pPr>
              <a:spcAft>
                <a:spcPts val="800"/>
              </a:spcAft>
              <a:defRPr sz="1700">
                <a:solidFill>
                  <a:srgbClr val="242C3A"/>
                </a:solidFill>
                <a:latin typeface="Aptos"/>
              </a:defRPr>
            </a:pPr>
            <a:r>
              <a:t>•  Live demo backup: screenshots or a short recording in case network access is unreliable.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97D"/>
                </a:solidFill>
                <a:latin typeface="Aptos"/>
              </a:defRPr>
            </a:pPr>
            <a:r>
              <a:t>MSc Big Data Analytics • IMDb Movie Rating Category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B69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We built a complete data-to-deployment pipeline: IMDb data → analysis → XGBoost classifier → public Streamlit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2E1F0"/>
                </a:solidFill>
                <a:latin typeface="Aptos"/>
              </a:defRPr>
            </a:pPr>
            <a:r>
              <a:t>The project demonstrates applied analytics skills and creates a foundation for audience research and marketing decision support—while keeping rating prediction separate from commercial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8DCD2"/>
                </a:solidFill>
                <a:latin typeface="Aptos"/>
              </a:defRPr>
            </a:pPr>
            <a:r>
              <a:t>Selected industry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Ormax Media — https://ormaxmedia.com/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Screen Data &amp; Insights — https://www.screendata.ai/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Nielsen — https://www.nielsen.com/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Luminate — https://luminatedata.com/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PlumResearch — https://www.plumresearch.com/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Amazon Ads Entertainment — https://advertising.amazon.com/solutions/industries/entertainment</a:t>
            </a:r>
          </a:p>
          <a:p>
            <a:pPr>
              <a:spcAft>
                <a:spcPts val="500"/>
              </a:spcAft>
              <a:defRPr sz="1000" b="0">
                <a:solidFill>
                  <a:srgbClr val="DCE6F2"/>
                </a:solidFill>
                <a:latin typeface="Aptos"/>
              </a:defRPr>
            </a:pPr>
            <a:r>
              <a:t>• RACE framework — https://www.smartinsights.com/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